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1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14416" y="1316736"/>
            <a:ext cx="6144768" cy="2918811"/>
          </a:xfrm>
          <a:prstGeom prst="roundRect">
            <a:avLst/>
          </a:prstGeom>
          <a:solidFill>
            <a:srgbClr val="3B1D5E"/>
          </a:solidFill>
          <a:ln w="19050">
            <a:solidFill>
              <a:srgbClr val="FF5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スクリーンショット 2026-07-15 1909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6035040" cy="28090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554480"/>
            <a:ext cx="49377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8FB3"/>
                </a:solidFill>
                <a:latin typeface="Yu Gothic UI"/>
              </a:rPr>
              <a:t>💘 Love Match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108960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3F8"/>
                </a:solidFill>
                <a:latin typeface="Yu Gothic UI"/>
              </a:rPr>
              <a:t>AIが顔から「相性」を判定する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3F8"/>
                </a:solidFill>
                <a:latin typeface="Yu Gothic UI"/>
              </a:rPr>
              <a:t>ネタ系Webアプリ 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754880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9A9CF"/>
                </a:solidFill>
                <a:latin typeface="Yu Gothic UI"/>
              </a:rPr>
              <a:t>先端クラウドシステム開発Ⅰ 問題2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FBBF24"/>
                </a:solidFill>
                <a:latin typeface="Yu Gothic UI"/>
              </a:rPr>
              <a:t>SI THU TUN／シートゥートゥン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9A9CF"/>
                </a:solidFill>
                <a:latin typeface="Yu Gothic UI"/>
              </a:rPr>
              <a:t>Flask + SQLite + MediaPipe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1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8FB3"/>
                </a:solidFill>
                <a:latin typeface="Yu Gothic UI"/>
              </a:rPr>
              <a:t>📋  概要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2011680" cy="38100"/>
          </a:xfrm>
          <a:prstGeom prst="rect">
            <a:avLst/>
          </a:prstGeom>
          <a:solidFill>
            <a:srgbClr val="FF5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97296" y="1316736"/>
            <a:ext cx="5961888" cy="2815732"/>
          </a:xfrm>
          <a:prstGeom prst="roundRect">
            <a:avLst/>
          </a:prstGeom>
          <a:solidFill>
            <a:srgbClr val="3B1D5E"/>
          </a:solidFill>
          <a:ln w="19050">
            <a:solidFill>
              <a:srgbClr val="FF5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スクリーンショット 2026-07-15 1908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5852160" cy="27060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554480"/>
            <a:ext cx="50292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FFF3F8"/>
                </a:solidFill>
                <a:latin typeface="Yu Gothic UI"/>
              </a:rPr>
              <a:t>自分と候補者（最大10人）の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FFF3F8"/>
                </a:solidFill>
                <a:latin typeface="Yu Gothic UI"/>
              </a:rPr>
              <a:t>写真をアップ → AIが顔を分析 →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FFF3F8"/>
                </a:solidFill>
                <a:latin typeface="Yu Gothic UI"/>
              </a:rPr>
              <a:t>相性％でランキング 💖</a:t>
            </a:r>
          </a:p>
          <a:p>
            <a:pPr algn="l">
              <a:spcAft>
                <a:spcPts val="800"/>
              </a:spcAft>
            </a:pPr>
            <a:r>
              <a:rPr sz="800" b="0">
                <a:solidFill>
                  <a:srgbClr val="FFF3F8"/>
                </a:solidFill>
                <a:latin typeface="Yu Gothic U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C9A9CF"/>
                </a:solidFill>
                <a:latin typeface="Yu Gothic UI"/>
              </a:rPr>
              <a:t>⚠️ 相性は顔から予測できません。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C9A9CF"/>
                </a:solidFill>
                <a:latin typeface="Yu Gothic UI"/>
              </a:rPr>
              <a:t>　でも数値は本物のAI分析から算出。</a:t>
            </a:r>
          </a:p>
          <a:p>
            <a:pPr algn="l">
              <a:spcAft>
                <a:spcPts val="800"/>
              </a:spcAft>
            </a:pPr>
            <a:r>
              <a:rPr sz="800" b="0">
                <a:solidFill>
                  <a:srgbClr val="FFF3F8"/>
                </a:solidFill>
                <a:latin typeface="Yu Gothic U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F8FB3"/>
                </a:solidFill>
                <a:latin typeface="Yu Gothic UI"/>
              </a:rPr>
              <a:t>🌐 日本語・英語対応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F8FB3"/>
                </a:solidFill>
                <a:latin typeface="Yu Gothic UI"/>
              </a:rPr>
              <a:t>🔒 全機能ログイン必須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2636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C9A9CF"/>
                </a:solidFill>
                <a:latin typeface="Yu Gothic UI"/>
              </a:rPr>
              <a:t>Love Match AI · 概要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1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8FB3"/>
                </a:solidFill>
                <a:latin typeface="Yu Gothic UI"/>
              </a:rPr>
              <a:t>🕹️  使い方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2011680" cy="38100"/>
          </a:xfrm>
          <a:prstGeom prst="rect">
            <a:avLst/>
          </a:prstGeom>
          <a:solidFill>
            <a:srgbClr val="FF5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2084831" cy="914400"/>
          </a:xfrm>
          <a:prstGeom prst="roundRect">
            <a:avLst/>
          </a:prstGeom>
          <a:solidFill>
            <a:srgbClr val="3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2600" b="1">
                <a:solidFill>
                  <a:srgbClr val="FBBF24"/>
                </a:solidFill>
                <a:latin typeface="Yu Gothic UI"/>
              </a:rPr>
              <a:t>①</a:t>
            </a:r>
          </a:p>
          <a:p>
            <a:pPr algn="ctr"/>
            <a:r>
              <a:rPr sz="1300">
                <a:solidFill>
                  <a:srgbClr val="FFF3F8"/>
                </a:solidFill>
                <a:latin typeface="Yu Gothic UI"/>
              </a:rPr>
              <a:t>登録・ログイン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70632" y="1234440"/>
            <a:ext cx="2084831" cy="914400"/>
          </a:xfrm>
          <a:prstGeom prst="roundRect">
            <a:avLst/>
          </a:prstGeom>
          <a:solidFill>
            <a:srgbClr val="3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2600" b="1">
                <a:solidFill>
                  <a:srgbClr val="FBBF24"/>
                </a:solidFill>
                <a:latin typeface="Yu Gothic UI"/>
              </a:rPr>
              <a:t>②</a:t>
            </a:r>
          </a:p>
          <a:p>
            <a:pPr algn="ctr"/>
            <a:r>
              <a:rPr sz="1300">
                <a:solidFill>
                  <a:srgbClr val="FFF3F8"/>
                </a:solidFill>
                <a:latin typeface="Yu Gothic UI"/>
              </a:rPr>
              <a:t>写真アップ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92623" y="1234440"/>
            <a:ext cx="2084831" cy="914400"/>
          </a:xfrm>
          <a:prstGeom prst="roundRect">
            <a:avLst/>
          </a:prstGeom>
          <a:solidFill>
            <a:srgbClr val="3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2600" b="1">
                <a:solidFill>
                  <a:srgbClr val="FBBF24"/>
                </a:solidFill>
                <a:latin typeface="Yu Gothic UI"/>
              </a:rPr>
              <a:t>③</a:t>
            </a:r>
          </a:p>
          <a:p>
            <a:pPr algn="ctr"/>
            <a:r>
              <a:rPr sz="1300">
                <a:solidFill>
                  <a:srgbClr val="FFF3F8"/>
                </a:solidFill>
                <a:latin typeface="Yu Gothic UI"/>
              </a:rPr>
              <a:t>「探す！」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14615" y="1234440"/>
            <a:ext cx="2084831" cy="914400"/>
          </a:xfrm>
          <a:prstGeom prst="roundRect">
            <a:avLst/>
          </a:prstGeom>
          <a:solidFill>
            <a:srgbClr val="3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2600" b="1">
                <a:solidFill>
                  <a:srgbClr val="FBBF24"/>
                </a:solidFill>
                <a:latin typeface="Yu Gothic UI"/>
              </a:rPr>
              <a:t>④</a:t>
            </a:r>
          </a:p>
          <a:p>
            <a:pPr algn="ctr"/>
            <a:r>
              <a:rPr sz="1300">
                <a:solidFill>
                  <a:srgbClr val="FFF3F8"/>
                </a:solidFill>
                <a:latin typeface="Yu Gothic UI"/>
              </a:rPr>
              <a:t>結果発表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7" y="1234440"/>
            <a:ext cx="2084831" cy="914400"/>
          </a:xfrm>
          <a:prstGeom prst="roundRect">
            <a:avLst/>
          </a:prstGeom>
          <a:solidFill>
            <a:srgbClr val="3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2600" b="1">
                <a:solidFill>
                  <a:srgbClr val="FBBF24"/>
                </a:solidFill>
                <a:latin typeface="Yu Gothic UI"/>
              </a:rPr>
              <a:t>⑤</a:t>
            </a:r>
          </a:p>
          <a:p>
            <a:pPr algn="ctr"/>
            <a:r>
              <a:rPr sz="1300">
                <a:solidFill>
                  <a:srgbClr val="FFF3F8"/>
                </a:solidFill>
                <a:latin typeface="Yu Gothic UI"/>
              </a:rPr>
              <a:t>履歴・殿堂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" y="2459736"/>
            <a:ext cx="5687568" cy="2680947"/>
          </a:xfrm>
          <a:prstGeom prst="roundRect">
            <a:avLst/>
          </a:prstGeom>
          <a:solidFill>
            <a:srgbClr val="3B1D5E"/>
          </a:solidFill>
          <a:ln w="19050">
            <a:solidFill>
              <a:srgbClr val="FF5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スクリーンショット 2026-07-15 191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4600"/>
            <a:ext cx="5577840" cy="257121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37376" y="2459736"/>
            <a:ext cx="4956048" cy="2365507"/>
          </a:xfrm>
          <a:prstGeom prst="roundRect">
            <a:avLst/>
          </a:prstGeom>
          <a:solidFill>
            <a:srgbClr val="3B1D5E"/>
          </a:solidFill>
          <a:ln w="19050">
            <a:solidFill>
              <a:srgbClr val="FF5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スクリーンショット 2026-07-15 1909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514600"/>
            <a:ext cx="4846320" cy="22557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53212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C9A9CF"/>
                </a:solidFill>
                <a:latin typeface="Yu Gothic UI"/>
              </a:rPr>
              <a:t>アップロード画面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53212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C9A9CF"/>
                </a:solidFill>
                <a:latin typeface="Yu Gothic UI"/>
              </a:rPr>
              <a:t>結果発表（勝者）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2636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C9A9CF"/>
                </a:solidFill>
                <a:latin typeface="Yu Gothic UI"/>
              </a:rPr>
              <a:t>Love Match AI · 使い方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1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8FB3"/>
                </a:solidFill>
                <a:latin typeface="Yu Gothic UI"/>
              </a:rPr>
              <a:t>🔐  ログイン必須の機能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2011680" cy="38100"/>
          </a:xfrm>
          <a:prstGeom prst="rect">
            <a:avLst/>
          </a:prstGeom>
          <a:solidFill>
            <a:srgbClr val="FF5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88736" y="1408176"/>
            <a:ext cx="5870448" cy="2769923"/>
          </a:xfrm>
          <a:prstGeom prst="roundRect">
            <a:avLst/>
          </a:prstGeom>
          <a:solidFill>
            <a:srgbClr val="3B1D5E"/>
          </a:solidFill>
          <a:ln w="19050">
            <a:solidFill>
              <a:srgbClr val="FF5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スクリーンショット 2026-07-15 191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760720" cy="26601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554480"/>
            <a:ext cx="51206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1">
                <a:solidFill>
                  <a:srgbClr val="FF8FB3"/>
                </a:solidFill>
                <a:latin typeface="Yu Gothic UI"/>
              </a:rPr>
              <a:t>ゲスト利用は不可 🚫</a:t>
            </a:r>
          </a:p>
          <a:p>
            <a:pPr algn="l">
              <a:spcAft>
                <a:spcPts val="700"/>
              </a:spcAft>
            </a:pPr>
            <a:r>
              <a:rPr sz="600" b="0">
                <a:solidFill>
                  <a:srgbClr val="FFF3F8"/>
                </a:solidFill>
                <a:latin typeface="Yu Gothic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FFF3F8"/>
                </a:solidFill>
                <a:latin typeface="Yu Gothic UI"/>
              </a:rPr>
              <a:t>💘 AI相性分析（マッチング）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C9A9CF"/>
                </a:solidFill>
                <a:latin typeface="Yu Gothic UI"/>
              </a:rPr>
              <a:t>　← CRUD以外のログイン必須機能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FFF3F8"/>
                </a:solidFill>
                <a:latin typeface="Yu Gothic UI"/>
              </a:rPr>
              <a:t>📜 マッチ履歴（作成・閲覧・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FFF3F8"/>
                </a:solidFill>
                <a:latin typeface="Yu Gothic UI"/>
              </a:rPr>
              <a:t>　　名前変更・削除＝CRUD）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FFF3F8"/>
                </a:solidFill>
                <a:latin typeface="Yu Gothic UI"/>
              </a:rPr>
              <a:t>🏆 殿堂（自己ベスト＆統計）→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2636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C9A9CF"/>
                </a:solidFill>
                <a:latin typeface="Yu Gothic UI"/>
              </a:rPr>
              <a:t>Love Match AI · ログイン必須の機能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1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8FB3"/>
                </a:solidFill>
                <a:latin typeface="Yu Gothic UI"/>
              </a:rPr>
              <a:t>🧠  AIモデル：入力と予測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2011680" cy="38100"/>
          </a:xfrm>
          <a:prstGeom prst="rect">
            <a:avLst/>
          </a:prstGeom>
          <a:solidFill>
            <a:srgbClr val="FF5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88736" y="1408176"/>
            <a:ext cx="5870448" cy="2783261"/>
          </a:xfrm>
          <a:prstGeom prst="roundRect">
            <a:avLst/>
          </a:prstGeom>
          <a:solidFill>
            <a:srgbClr val="3B1D5E"/>
          </a:solidFill>
          <a:ln w="19050">
            <a:solidFill>
              <a:srgbClr val="FF5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スクリーンショット 2026-07-15 1909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760720" cy="26735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508760"/>
            <a:ext cx="52120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8FB3"/>
                </a:solidFill>
                <a:latin typeface="Yu Gothic UI"/>
              </a:rPr>
              <a:t>モデル：MediaPipe Face Mesh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9A9CF"/>
                </a:solidFill>
                <a:latin typeface="Yu Gothic UI"/>
              </a:rPr>
              <a:t>（顔ランドマーク回帰モデル）</a:t>
            </a:r>
          </a:p>
          <a:p>
            <a:pPr algn="l">
              <a:spcAft>
                <a:spcPts val="600"/>
              </a:spcAft>
            </a:pPr>
            <a:r>
              <a:rPr sz="500" b="0">
                <a:solidFill>
                  <a:srgbClr val="FFF3F8"/>
                </a:solidFill>
                <a:latin typeface="Yu Gothic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3F8"/>
                </a:solidFill>
                <a:latin typeface="Yu Gothic UI"/>
              </a:rPr>
              <a:t>入力 📥 ：顔写真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3F8"/>
                </a:solidFill>
                <a:latin typeface="Yu Gothic UI"/>
              </a:rPr>
              <a:t>予測 📤 ：顔の478点＋検出信頼度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9A9CF"/>
                </a:solidFill>
                <a:latin typeface="Yu Gothic UI"/>
              </a:rPr>
              <a:t>　→ 14の特徴量を計算 →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9A9CF"/>
                </a:solidFill>
                <a:latin typeface="Yu Gothic UI"/>
              </a:rPr>
              <a:t>　　笑顔・目・対称性・色など 👉</a:t>
            </a:r>
          </a:p>
          <a:p>
            <a:pPr algn="l">
              <a:spcAft>
                <a:spcPts val="600"/>
              </a:spcAft>
            </a:pPr>
            <a:r>
              <a:rPr sz="500" b="0">
                <a:solidFill>
                  <a:srgbClr val="FFF3F8"/>
                </a:solidFill>
                <a:latin typeface="Yu Gothic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3F8"/>
                </a:solidFill>
                <a:latin typeface="Yu Gothic UI"/>
              </a:rPr>
              <a:t>相性％＝特徴量の決定論的な計算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9A9CF"/>
                </a:solidFill>
                <a:latin typeface="Yu Gothic UI"/>
              </a:rPr>
              <a:t>（教科書の画像分類とは別モデル）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2636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C9A9CF"/>
                </a:solidFill>
                <a:latin typeface="Yu Gothic UI"/>
              </a:rPr>
              <a:t>Love Match AI · AIモデル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1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8FB3"/>
                </a:solidFill>
                <a:latin typeface="Yu Gothic UI"/>
              </a:rPr>
              <a:t>✨  工夫した点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2011680" cy="38100"/>
          </a:xfrm>
          <a:prstGeom prst="rect">
            <a:avLst/>
          </a:prstGeom>
          <a:solidFill>
            <a:srgbClr val="FF5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88736" y="1408176"/>
            <a:ext cx="5870448" cy="2773450"/>
          </a:xfrm>
          <a:prstGeom prst="roundRect">
            <a:avLst/>
          </a:prstGeom>
          <a:solidFill>
            <a:srgbClr val="3B1D5E"/>
          </a:solidFill>
          <a:ln w="19050">
            <a:solidFill>
              <a:srgbClr val="FF5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スクリーンショット 2026-07-15 1908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760720" cy="26637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554480"/>
            <a:ext cx="52120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3F8"/>
                </a:solidFill>
                <a:latin typeface="Yu Gothic UI"/>
              </a:rPr>
              <a:t>🧠 面白い理由コメント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9A9CF"/>
                </a:solidFill>
                <a:latin typeface="Yu Gothic UI"/>
              </a:rPr>
              <a:t>　スコア帯で口調が変化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3F8"/>
                </a:solidFill>
                <a:latin typeface="Yu Gothic UI"/>
              </a:rPr>
              <a:t>😂 判定コメント10段階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3F8"/>
                </a:solidFill>
                <a:latin typeface="Yu Gothic UI"/>
              </a:rPr>
              <a:t>🎊 演出：紙吹雪・王冠・バー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3F8"/>
                </a:solidFill>
                <a:latin typeface="Yu Gothic UI"/>
              </a:rPr>
              <a:t>🌐 英日2言語（UI全体）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3F8"/>
                </a:solidFill>
                <a:latin typeface="Yu Gothic UI"/>
              </a:rPr>
              <a:t>🔐 パスワード暗号化・CSRF対策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8FB3"/>
                </a:solidFill>
                <a:latin typeface="Yu Gothic UI"/>
              </a:rPr>
              <a:t>✅ 自動テスト53項目 合格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2636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C9A9CF"/>
                </a:solidFill>
                <a:latin typeface="Yu Gothic UI"/>
              </a:rPr>
              <a:t>Love Match AI · 工夫した点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1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031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FF8FB3"/>
                </a:solidFill>
                <a:latin typeface="Yu Gothic UI"/>
              </a:rPr>
              <a:t>デモ 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5661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0">
                <a:solidFill>
                  <a:srgbClr val="FFF3F8"/>
                </a:solidFill>
                <a:latin typeface="Yu Gothic UI"/>
              </a:rPr>
              <a:t>ログイン → 写真アップ → AI分析 → 結果 → 殿堂</a:t>
            </a:r>
          </a:p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FBBF24"/>
                </a:solidFill>
                <a:latin typeface="Yu Gothic UI"/>
              </a:rPr>
              <a:t>http://127.0.0.1:5000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